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29000" cy="6858000"/>
          </a:xfrm>
          <a:prstGeom prst="rect">
            <a:avLst/>
          </a:prstGeom>
          <a:solidFill>
            <a:srgbClr val="11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1098" y="612476"/>
            <a:ext cx="7404182" cy="36317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 dirty="0">
                <a:solidFill>
                  <a:srgbClr val="19A7A1"/>
                </a:solidFill>
                <a:latin typeface="Aptos"/>
              </a:rPr>
              <a:t>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1" y="1420838"/>
            <a:ext cx="7498079" cy="116339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ptos"/>
              </a:rPr>
              <a:t>Retail Sales &amp;
</a:t>
            </a:r>
            <a:r>
              <a:rPr lang="en-IN" sz="3600" b="1" dirty="0">
                <a:solidFill>
                  <a:srgbClr val="FFFFFF"/>
                </a:solidFill>
                <a:latin typeface="Aptos"/>
              </a:rPr>
              <a:t>                                </a:t>
            </a:r>
            <a:r>
              <a:rPr sz="3600" b="1" dirty="0">
                <a:solidFill>
                  <a:srgbClr val="FFFFFF"/>
                </a:solidFill>
                <a:latin typeface="Aptos"/>
              </a:rPr>
              <a:t>Customer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71323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900" b="0">
                <a:solidFill>
                  <a:srgbClr val="DDE7F2"/>
                </a:solidFill>
                <a:latin typeface="Aptos"/>
              </a:rPr>
              <a:t>Turning transaction data into useful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0594" y="4800600"/>
            <a:ext cx="6810805" cy="794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400" b="0" dirty="0">
                <a:solidFill>
                  <a:srgbClr val="DDE7F2"/>
                </a:solidFill>
                <a:latin typeface="Aptos"/>
              </a:rPr>
              <a:t>by</a:t>
            </a:r>
            <a:endParaRPr lang="en-IN" sz="2400" b="0" dirty="0">
              <a:solidFill>
                <a:srgbClr val="DDE7F2"/>
              </a:solidFill>
              <a:latin typeface="Aptos"/>
            </a:endParaRPr>
          </a:p>
          <a:p>
            <a:pPr algn="l"/>
            <a:r>
              <a:rPr sz="2400" b="0" dirty="0">
                <a:solidFill>
                  <a:srgbClr val="DDE7F2"/>
                </a:solidFill>
                <a:latin typeface="Aptos"/>
              </a:rPr>
              <a:t>[</a:t>
            </a:r>
            <a:r>
              <a:rPr lang="en-IN" sz="2400" dirty="0">
                <a:solidFill>
                  <a:srgbClr val="DDE7F2"/>
                </a:solidFill>
                <a:latin typeface="Aptos"/>
              </a:rPr>
              <a:t>PAVEEN KUMAR N</a:t>
            </a:r>
            <a:r>
              <a:rPr sz="2400" b="0" dirty="0">
                <a:solidFill>
                  <a:srgbClr val="DDE7F2"/>
                </a:solidFill>
                <a:latin typeface="Aptos"/>
              </a:rPr>
              <a:t>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051560"/>
            <a:ext cx="1371600" cy="146304"/>
          </a:xfrm>
          <a:prstGeom prst="round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81160" y="1490472"/>
            <a:ext cx="1691640" cy="146304"/>
          </a:xfrm>
          <a:prstGeom prst="round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81160" y="1929384"/>
            <a:ext cx="2011680" cy="146304"/>
          </a:xfrm>
          <a:prstGeom prst="round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81160" y="2368296"/>
            <a:ext cx="1371600" cy="146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81160" y="2807208"/>
            <a:ext cx="1691640" cy="146304"/>
          </a:xfrm>
          <a:prstGeom prst="round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ptos"/>
              </a:rPr>
              <a:t>Presentation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822960" cy="54864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0">
                <a:solidFill>
                  <a:srgbClr val="697788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9A7A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00200"/>
            <a:ext cx="2743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>
                <a:solidFill>
                  <a:srgbClr val="142D4E"/>
                </a:solidFill>
                <a:latin typeface="Aptos"/>
              </a:rP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18488"/>
            <a:ext cx="66751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What the analysis is designed to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30552"/>
            <a:ext cx="9692640" cy="10972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9A7A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59736"/>
            <a:ext cx="2743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>
                <a:solidFill>
                  <a:srgbClr val="142D4E"/>
                </a:solidFill>
                <a:latin typeface="Aptos"/>
              </a:rPr>
              <a:t>Dataset &amp;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78024"/>
            <a:ext cx="66751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Data structure and quality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990088"/>
            <a:ext cx="9692640" cy="10972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9A7A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19272"/>
            <a:ext cx="2743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>
                <a:solidFill>
                  <a:srgbClr val="142D4E"/>
                </a:solidFill>
                <a:latin typeface="Aptos"/>
              </a:rPr>
              <a:t>Analysis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37560"/>
            <a:ext cx="66751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Excel formulas, PivotTables and comparisons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849624"/>
            <a:ext cx="9692640" cy="10972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9A7A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78808"/>
            <a:ext cx="2743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>
                <a:solidFill>
                  <a:srgbClr val="142D4E"/>
                </a:solidFill>
                <a:latin typeface="Aptos"/>
              </a:rPr>
              <a:t>Dashboard &amp;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97096"/>
            <a:ext cx="66751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KPIs, trends, products and countries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709160"/>
            <a:ext cx="9692640" cy="10972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38344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9A7A1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38344"/>
            <a:ext cx="2743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>
                <a:solidFill>
                  <a:srgbClr val="142D4E"/>
                </a:solidFill>
                <a:latin typeface="Aptos"/>
              </a:rPr>
              <a:t>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056631"/>
            <a:ext cx="66751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Actions supported by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ptos"/>
              </a:rP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822960" cy="54864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0">
                <a:solidFill>
                  <a:srgbClr val="697788"/>
                </a:solidFill>
                <a:latin typeface="Aptos"/>
              </a:rPr>
              <a:t>Understand sales performance and customer activity using Excel.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0">
                <a:solidFill>
                  <a:srgbClr val="697788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Main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029200" cy="1463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0">
                <a:solidFill>
                  <a:srgbClr val="2A3645"/>
                </a:solidFill>
                <a:latin typeface="Aptos"/>
              </a:rPr>
              <a:t>Analyze retail transactions to identify revenue patterns, product performance, customer activity and country-level differences.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5720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42D4E"/>
                </a:solidFill>
                <a:latin typeface="Aptos"/>
              </a:rPr>
              <a:t>Key business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645"/>
                </a:solidFill>
                <a:latin typeface="Aptos"/>
              </a:defRPr>
            </a:pPr>
            <a:r>
              <a:t>•  How much revenue and order activity are recorded?</a:t>
            </a:r>
          </a:p>
          <a:p>
            <a:pPr>
              <a:spcAft>
                <a:spcPts val="1000"/>
              </a:spcAft>
              <a:defRPr sz="1600">
                <a:solidFill>
                  <a:srgbClr val="2A3645"/>
                </a:solidFill>
                <a:latin typeface="Aptos"/>
              </a:defRPr>
            </a:pPr>
            <a:r>
              <a:t>•  Which products perform best and worst by sales?</a:t>
            </a:r>
          </a:p>
          <a:p>
            <a:pPr>
              <a:spcAft>
                <a:spcPts val="1000"/>
              </a:spcAft>
              <a:defRPr sz="1600">
                <a:solidFill>
                  <a:srgbClr val="2A3645"/>
                </a:solidFill>
                <a:latin typeface="Aptos"/>
              </a:defRPr>
            </a:pPr>
            <a:r>
              <a:t>•  How does revenue change over time?</a:t>
            </a:r>
          </a:p>
          <a:p>
            <a:pPr>
              <a:spcAft>
                <a:spcPts val="1000"/>
              </a:spcAft>
              <a:defRPr sz="1600">
                <a:solidFill>
                  <a:srgbClr val="2A3645"/>
                </a:solidFill>
                <a:latin typeface="Aptos"/>
              </a:defRPr>
            </a:pPr>
            <a:r>
              <a:t>•  Which countries contribute most to sales?</a:t>
            </a:r>
          </a:p>
          <a:p>
            <a:pPr>
              <a:spcAft>
                <a:spcPts val="1000"/>
              </a:spcAft>
              <a:defRPr sz="1600">
                <a:solidFill>
                  <a:srgbClr val="2A3645"/>
                </a:solidFill>
                <a:latin typeface="Aptos"/>
              </a:defRPr>
            </a:pPr>
            <a:r>
              <a:t>•  What data-quality issues could affect decisions?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ptos"/>
              </a:rPr>
              <a:t>Dataset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822960" cy="54864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0">
                <a:solidFill>
                  <a:srgbClr val="697788"/>
                </a:solidFill>
                <a:latin typeface="Aptos"/>
              </a:rPr>
              <a:t>Workbook structure and analysis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0">
                <a:solidFill>
                  <a:srgbClr val="697788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2344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1691639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697788"/>
                </a:solidFill>
                <a:latin typeface="Aptos"/>
              </a:rPr>
              <a:t>CLEANED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169163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300" b="1">
                <a:solidFill>
                  <a:srgbClr val="142D4E"/>
                </a:solidFill>
                <a:latin typeface="Aptos"/>
              </a:rPr>
              <a:t>96,458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1691639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>
                <a:solidFill>
                  <a:srgbClr val="697788"/>
                </a:solidFill>
                <a:latin typeface="Aptos"/>
              </a:rPr>
              <a:t>Rows in Clean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55448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1554480"/>
            <a:ext cx="73152" cy="12344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1673352"/>
            <a:ext cx="1691639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697788"/>
                </a:solidFill>
                <a:latin typeface="Aptos"/>
              </a:rPr>
              <a:t>INVOICES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169163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300" b="1">
                <a:solidFill>
                  <a:srgbClr val="142D4E"/>
                </a:solidFill>
                <a:latin typeface="Aptos"/>
              </a:rPr>
              <a:t>5,824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542032"/>
            <a:ext cx="1691639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>
                <a:solidFill>
                  <a:srgbClr val="697788"/>
                </a:solidFill>
                <a:latin typeface="Aptos"/>
              </a:rPr>
              <a:t>Distinct invoice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55448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12080" y="1554480"/>
            <a:ext cx="73152" cy="12344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1673352"/>
            <a:ext cx="1691639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697788"/>
                </a:solidFill>
                <a:latin typeface="Aptos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947672"/>
            <a:ext cx="169163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300" b="1">
                <a:solidFill>
                  <a:srgbClr val="142D4E"/>
                </a:solidFill>
                <a:latin typeface="Aptos"/>
              </a:rPr>
              <a:t>2,200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542032"/>
            <a:ext cx="1691639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>
                <a:solidFill>
                  <a:srgbClr val="697788"/>
                </a:solidFill>
                <a:latin typeface="Aptos"/>
              </a:rPr>
              <a:t>Distinct customer 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155448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52360" y="1554480"/>
            <a:ext cx="73152" cy="12344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1673352"/>
            <a:ext cx="1691639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697788"/>
                </a:solidFill>
                <a:latin typeface="Aptos"/>
              </a:rPr>
              <a:t>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947672"/>
            <a:ext cx="169163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300" b="1">
                <a:solidFill>
                  <a:srgbClr val="142D4E"/>
                </a:solidFill>
                <a:latin typeface="Aptos"/>
              </a:rPr>
              <a:t>~2,900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42032"/>
            <a:ext cx="1691639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>
                <a:solidFill>
                  <a:srgbClr val="697788"/>
                </a:solidFill>
                <a:latin typeface="Aptos"/>
              </a:rPr>
              <a:t>Distinct stock codes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55448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92640" y="1554480"/>
            <a:ext cx="73152" cy="1234440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19" y="1673352"/>
            <a:ext cx="1691639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697788"/>
                </a:solidFill>
                <a:latin typeface="Aptos"/>
              </a:rPr>
              <a:t>COUNTRIES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1947672"/>
            <a:ext cx="169163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300" b="1">
                <a:solidFill>
                  <a:srgbClr val="142D4E"/>
                </a:solidFill>
                <a:latin typeface="Aptos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542032"/>
            <a:ext cx="1691639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>
                <a:solidFill>
                  <a:srgbClr val="697788"/>
                </a:solidFill>
                <a:latin typeface="Aptos"/>
              </a:rPr>
              <a:t>Geographic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42D4E"/>
                </a:solidFill>
                <a:latin typeface="Aptos"/>
              </a:rPr>
              <a:t>Core 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703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A3645"/>
                </a:solidFill>
                <a:latin typeface="Aptos"/>
              </a:defRPr>
            </a:pPr>
            <a:r>
              <a:t>•  Invoice, StockCode and Description</a:t>
            </a:r>
          </a:p>
          <a:p>
            <a:pPr>
              <a:spcAft>
                <a:spcPts val="1000"/>
              </a:spcAft>
              <a:defRPr sz="1500">
                <a:solidFill>
                  <a:srgbClr val="2A3645"/>
                </a:solidFill>
                <a:latin typeface="Aptos"/>
              </a:defRPr>
            </a:pPr>
            <a:r>
              <a:t>•  Quantity, InvoiceDate and Price</a:t>
            </a:r>
          </a:p>
          <a:p>
            <a:pPr>
              <a:spcAft>
                <a:spcPts val="1000"/>
              </a:spcAft>
              <a:defRPr sz="1500">
                <a:solidFill>
                  <a:srgbClr val="2A3645"/>
                </a:solidFill>
                <a:latin typeface="Aptos"/>
              </a:defRPr>
            </a:pPr>
            <a:r>
              <a:t>•  Customer ID, Country and Sales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246120"/>
            <a:ext cx="45720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000" b="1">
                <a:solidFill>
                  <a:srgbClr val="142D4E"/>
                </a:solidFill>
                <a:latin typeface="Aptos"/>
              </a:rPr>
              <a:t>Derived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703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A3645"/>
                </a:solidFill>
                <a:latin typeface="Aptos"/>
              </a:defRPr>
            </a:pPr>
            <a:r>
              <a:t>•  Year, Quarter and Month</a:t>
            </a:r>
          </a:p>
          <a:p>
            <a:pPr>
              <a:spcAft>
                <a:spcPts val="1000"/>
              </a:spcAft>
              <a:defRPr sz="1500">
                <a:solidFill>
                  <a:srgbClr val="2A3645"/>
                </a:solidFill>
                <a:latin typeface="Aptos"/>
              </a:defRPr>
            </a:pPr>
            <a:r>
              <a:t>•  Month Number for chronological sorting</a:t>
            </a:r>
          </a:p>
          <a:p>
            <a:pPr>
              <a:spcAft>
                <a:spcPts val="1000"/>
              </a:spcAft>
              <a:defRPr sz="1500">
                <a:solidFill>
                  <a:srgbClr val="2A3645"/>
                </a:solidFill>
                <a:latin typeface="Aptos"/>
              </a:defRPr>
            </a:pPr>
            <a:r>
              <a:t>•  Weekday and Quality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ptos"/>
              </a:rP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822960" cy="54864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0">
                <a:solidFill>
                  <a:srgbClr val="697788"/>
                </a:solidFill>
                <a:latin typeface="Aptos"/>
              </a:rPr>
              <a:t>Use consistent definitions so that the numbers can be 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0">
                <a:solidFill>
                  <a:srgbClr val="69778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46504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19A7A1"/>
                </a:solidFill>
                <a:latin typeface="Aptos"/>
              </a:rPr>
              <a:t>Sum of Sales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697788"/>
                </a:solidFill>
                <a:latin typeface="Aptos"/>
              </a:rPr>
              <a:t>Validate return treatment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6002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746504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130552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19A7A1"/>
                </a:solidFill>
                <a:latin typeface="Aptos"/>
              </a:rPr>
              <a:t>Distinct Invoice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542032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697788"/>
                </a:solidFill>
                <a:latin typeface="Aptos"/>
              </a:rPr>
              <a:t>Do not count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16002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4776" y="1746504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130552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19A7A1"/>
                </a:solidFill>
                <a:latin typeface="Aptos"/>
              </a:rPr>
              <a:t>Distinct Customer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542032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697788"/>
                </a:solidFill>
                <a:latin typeface="Aptos"/>
              </a:rPr>
              <a:t>Review missing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832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529584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Units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13632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19A7A1"/>
                </a:solidFill>
                <a:latin typeface="Aptos"/>
              </a:rPr>
              <a:t>Sum of Quantity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25112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697788"/>
                </a:solidFill>
                <a:latin typeface="Aptos"/>
              </a:rPr>
              <a:t>Separate returns if appropriate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33832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529584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142D4E"/>
                </a:solidFill>
                <a:latin typeface="Aptos"/>
              </a:rPr>
              <a:t>Average order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913632"/>
            <a:ext cx="30175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19A7A1"/>
                </a:solidFill>
                <a:latin typeface="Aptos"/>
              </a:rPr>
              <a:t>Revenue ÷ distinct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325112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697788"/>
                </a:solidFill>
                <a:latin typeface="Aptos"/>
              </a:rPr>
              <a:t>Use consistent revenue basis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32120"/>
            <a:ext cx="10515600" cy="24006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 dirty="0">
                <a:solidFill>
                  <a:srgbClr val="D9534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0">
                <a:solidFill>
                  <a:srgbClr val="697788"/>
                </a:solidFill>
                <a:latin typeface="Aptos"/>
              </a:rPr>
              <a:t>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D80C98-DBCF-5131-21A9-CCE95E7E6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09" y="837726"/>
            <a:ext cx="10745131" cy="51825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C06BC18-F85F-681A-F480-4A35EA436308}"/>
              </a:ext>
            </a:extLst>
          </p:cNvPr>
          <p:cNvSpPr txBox="1"/>
          <p:nvPr/>
        </p:nvSpPr>
        <p:spPr>
          <a:xfrm>
            <a:off x="3636040" y="60881"/>
            <a:ext cx="3712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ptos"/>
              </a:rPr>
              <a:t>Business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822960" cy="54864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0">
                <a:solidFill>
                  <a:srgbClr val="697788"/>
                </a:solidFill>
                <a:latin typeface="Aptos"/>
              </a:rPr>
              <a:t>Turn validated findings into practical next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0">
                <a:solidFill>
                  <a:srgbClr val="69778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64008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0">
                <a:solidFill>
                  <a:srgbClr val="697788"/>
                </a:solidFill>
                <a:latin typeface="Aptos"/>
              </a:rPr>
              <a:t>RETAIL SALES &amp; CUSTOMER ANALYSIS  |  EXCEL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9A7A1"/>
                </a:solidFill>
                <a:latin typeface="Aptos"/>
              </a:rPr>
              <a:t>Product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00200"/>
            <a:ext cx="7955279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Prioritize consistently strong products; investigate weak performers before changing stock or promotions.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9A7A1"/>
                </a:solidFill>
                <a:latin typeface="Aptos"/>
              </a:rPr>
              <a:t>Market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23160"/>
            <a:ext cx="7955279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Compare high-revenue countries with order volume and customer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9A7A1"/>
                </a:solidFill>
                <a:latin typeface="Aptos"/>
              </a:rPr>
              <a:t>Customer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246120"/>
            <a:ext cx="7955279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Use customer summaries to identify repeat buyers and retention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9A7A1"/>
                </a:solidFill>
                <a:latin typeface="Aptos"/>
              </a:rPr>
              <a:t>Data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069080"/>
            <a:ext cx="7955279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Maintain checks for returns, missing IDs, duplicates and revenue reconciliation.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>
                <a:solidFill>
                  <a:srgbClr val="19A7A1"/>
                </a:solidFill>
                <a:latin typeface="Aptos"/>
              </a:rPr>
              <a:t>Reporting cadence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892040"/>
            <a:ext cx="7955279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2A3645"/>
                </a:solidFill>
                <a:latin typeface="Aptos"/>
              </a:rPr>
              <a:t>Refresh the Excel Table and PivotTables regularly; use slicers for focused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05840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 dirty="0">
                <a:solidFill>
                  <a:srgbClr val="19A7A1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987552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From raw transactions to clearer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692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Excel supports data cleaning, calculation, summarization and interactive reporting.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Clear KPI definitions help compare sales, orders, customers and products.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Validating returns and reconciling totals is essential before sharing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0957" y="5577840"/>
            <a:ext cx="3199306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500" b="1" dirty="0">
                <a:solidFill>
                  <a:srgbClr val="19A7A1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4869" y="6126480"/>
            <a:ext cx="362588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DDE7F2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828800"/>
            <a:ext cx="1097280" cy="164592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92640" y="2331720"/>
            <a:ext cx="1417319" cy="164592"/>
          </a:xfrm>
          <a:prstGeom prst="rect">
            <a:avLst/>
          </a:prstGeom>
          <a:solidFill>
            <a:srgbClr val="4366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92640" y="2834640"/>
            <a:ext cx="1737360" cy="164592"/>
          </a:xfrm>
          <a:prstGeom prst="rect">
            <a:avLst/>
          </a:prstGeom>
          <a:solidFill>
            <a:srgbClr val="19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92640" y="3337560"/>
            <a:ext cx="2057400" cy="164592"/>
          </a:xfrm>
          <a:prstGeom prst="rect">
            <a:avLst/>
          </a:prstGeom>
          <a:solidFill>
            <a:srgbClr val="4366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432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PAVEEN KUMAR</dc:creator>
  <cp:keywords/>
  <dc:description>generated using python-pptx</dc:description>
  <cp:lastModifiedBy>PAVEEN KUMAR</cp:lastModifiedBy>
  <cp:revision>4</cp:revision>
  <dcterms:created xsi:type="dcterms:W3CDTF">2013-01-27T09:14:16Z</dcterms:created>
  <dcterms:modified xsi:type="dcterms:W3CDTF">2026-10-17T05:04:08Z</dcterms:modified>
  <cp:category/>
</cp:coreProperties>
</file>